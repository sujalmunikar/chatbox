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256" r:id="rId5"/>
    <p:sldId id="3849" r:id="rId6"/>
    <p:sldId id="3846" r:id="rId7"/>
    <p:sldId id="261" r:id="rId8"/>
    <p:sldId id="3851" r:id="rId9"/>
    <p:sldId id="265" r:id="rId10"/>
    <p:sldId id="268" r:id="rId11"/>
    <p:sldId id="3852" r:id="rId12"/>
    <p:sldId id="3853" r:id="rId13"/>
    <p:sldId id="263" r:id="rId14"/>
    <p:sldId id="3848" r:id="rId15"/>
    <p:sldId id="3854" r:id="rId16"/>
    <p:sldId id="3855" r:id="rId17"/>
    <p:sldId id="3856" r:id="rId18"/>
    <p:sldId id="384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92" autoAdjust="0"/>
    <p:restoredTop sz="94694" autoAdjust="0"/>
  </p:normalViewPr>
  <p:slideViewPr>
    <p:cSldViewPr snapToGrid="0">
      <p:cViewPr>
        <p:scale>
          <a:sx n="40" d="100"/>
          <a:sy n="40" d="100"/>
        </p:scale>
        <p:origin x="40" y="414"/>
      </p:cViewPr>
      <p:guideLst/>
    </p:cSldViewPr>
  </p:slideViewPr>
  <p:outlineViewPr>
    <p:cViewPr>
      <p:scale>
        <a:sx n="33" d="100"/>
        <a:sy n="33" d="100"/>
      </p:scale>
      <p:origin x="0" y="-374"/>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11/24/2025</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11/24/2025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a:t>
            </a:fld>
            <a:endParaRPr lang="en-US" dirty="0"/>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a:t>
            </a:fld>
            <a:endParaRPr lang="en-US" dirty="0"/>
          </a:p>
        </p:txBody>
      </p:sp>
    </p:spTree>
    <p:extLst>
      <p:ext uri="{BB962C8B-B14F-4D97-AF65-F5344CB8AC3E}">
        <p14:creationId xmlns:p14="http://schemas.microsoft.com/office/powerpoint/2010/main" val="1951919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C6A29-4676-420C-BBE3-ACC2B80F64D4}" type="slidenum">
              <a:rPr lang="en-US" smtClean="0"/>
              <a:t>3</a:t>
            </a:fld>
            <a:endParaRPr lang="en-US" dirty="0"/>
          </a:p>
        </p:txBody>
      </p:sp>
    </p:spTree>
    <p:extLst>
      <p:ext uri="{BB962C8B-B14F-4D97-AF65-F5344CB8AC3E}">
        <p14:creationId xmlns:p14="http://schemas.microsoft.com/office/powerpoint/2010/main" val="2439709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4</a:t>
            </a:fld>
            <a:endParaRPr lang="en-US" dirty="0"/>
          </a:p>
        </p:txBody>
      </p:sp>
    </p:spTree>
    <p:extLst>
      <p:ext uri="{BB962C8B-B14F-4D97-AF65-F5344CB8AC3E}">
        <p14:creationId xmlns:p14="http://schemas.microsoft.com/office/powerpoint/2010/main" val="202840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5</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6</a:t>
            </a:fld>
            <a:endParaRPr lang="en-US" dirty="0"/>
          </a:p>
        </p:txBody>
      </p:sp>
    </p:spTree>
    <p:extLst>
      <p:ext uri="{BB962C8B-B14F-4D97-AF65-F5344CB8AC3E}">
        <p14:creationId xmlns:p14="http://schemas.microsoft.com/office/powerpoint/2010/main" val="1721109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7</a:t>
            </a:fld>
            <a:endParaRPr lang="en-US" dirty="0"/>
          </a:p>
        </p:txBody>
      </p:sp>
    </p:spTree>
    <p:extLst>
      <p:ext uri="{BB962C8B-B14F-4D97-AF65-F5344CB8AC3E}">
        <p14:creationId xmlns:p14="http://schemas.microsoft.com/office/powerpoint/2010/main" val="2316091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8</a:t>
            </a:fld>
            <a:endParaRPr lang="en-US" dirty="0"/>
          </a:p>
        </p:txBody>
      </p:sp>
    </p:spTree>
    <p:extLst>
      <p:ext uri="{BB962C8B-B14F-4D97-AF65-F5344CB8AC3E}">
        <p14:creationId xmlns:p14="http://schemas.microsoft.com/office/powerpoint/2010/main" val="2513568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9</a:t>
            </a:fld>
            <a:endParaRPr lang="en-US" dirty="0"/>
          </a:p>
        </p:txBody>
      </p:sp>
    </p:spTree>
    <p:extLst>
      <p:ext uri="{BB962C8B-B14F-4D97-AF65-F5344CB8AC3E}">
        <p14:creationId xmlns:p14="http://schemas.microsoft.com/office/powerpoint/2010/main" val="4281888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10</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11</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12</a:t>
            </a:fld>
            <a:endParaRPr lang="en-US" dirty="0"/>
          </a:p>
        </p:txBody>
      </p:sp>
    </p:spTree>
    <p:extLst>
      <p:ext uri="{BB962C8B-B14F-4D97-AF65-F5344CB8AC3E}">
        <p14:creationId xmlns:p14="http://schemas.microsoft.com/office/powerpoint/2010/main" val="304550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13</a:t>
            </a:fld>
            <a:endParaRPr lang="en-US" dirty="0"/>
          </a:p>
        </p:txBody>
      </p:sp>
    </p:spTree>
    <p:extLst>
      <p:ext uri="{BB962C8B-B14F-4D97-AF65-F5344CB8AC3E}">
        <p14:creationId xmlns:p14="http://schemas.microsoft.com/office/powerpoint/2010/main" val="3835561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15</a:t>
            </a:fld>
            <a:endParaRPr lang="en-US" dirty="0"/>
          </a:p>
        </p:txBody>
      </p:sp>
    </p:spTree>
    <p:extLst>
      <p:ext uri="{BB962C8B-B14F-4D97-AF65-F5344CB8AC3E}">
        <p14:creationId xmlns:p14="http://schemas.microsoft.com/office/powerpoint/2010/main" val="4151229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xmlns="" val="1"/>
              </a:ext>
            </a:extLst>
          </p:cNvPr>
          <p:cNvGrpSpPr/>
          <p:nvPr userDrawn="1"/>
        </p:nvGrpSpPr>
        <p:grpSpPr>
          <a:xfrm>
            <a:off x="0" y="0"/>
            <a:ext cx="12192000" cy="8286859"/>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anchor="b" anchorCtr="0">
            <a:noAutofit/>
          </a:bodyPr>
          <a:lstStyle>
            <a:lvl1pPr algn="r">
              <a:defRPr sz="44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xmlns="" val="1"/>
              </a:ext>
            </a:extLst>
          </p:cNvPr>
          <p:cNvGrpSpPr/>
          <p:nvPr userDrawn="1"/>
        </p:nvGrpSpPr>
        <p:grpSpPr>
          <a:xfrm>
            <a:off x="489189" y="941148"/>
            <a:ext cx="11182430" cy="4797821"/>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a:noAutofit/>
          </a:bodyPr>
          <a:lstStyle>
            <a:lvl1pPr algn="ctr">
              <a:defRPr>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xmlns=""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a:normAutofit/>
          </a:bodyPr>
          <a:lstStyle>
            <a:lvl1pPr algn="ctr">
              <a:defRPr sz="6000"/>
            </a:lvl1pPr>
          </a:lstStyle>
          <a:p>
            <a:r>
              <a:rPr lang="en-US" dirty="0"/>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xmlns=""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CB8A6E1-44B2-54E1-6460-1C9B27EE75FD}"/>
              </a:ext>
              <a:ext uri="{C183D7F6-B498-43B3-948B-1728B52AA6E4}">
                <adec:decorative xmlns:adec="http://schemas.microsoft.com/office/drawing/2017/decorative" xmlns="" val="1"/>
              </a:ext>
            </a:extLst>
          </p:cNvPr>
          <p:cNvGrpSpPr/>
          <p:nvPr userDrawn="1"/>
        </p:nvGrpSpPr>
        <p:grpSpPr>
          <a:xfrm>
            <a:off x="0" y="0"/>
            <a:ext cx="5698912" cy="6858001"/>
            <a:chOff x="0" y="-1"/>
            <a:chExt cx="5698912" cy="6858001"/>
          </a:xfrm>
        </p:grpSpPr>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4F9EBE3B-A856-C23C-4698-B764DF4BC70D}"/>
              </a:ext>
            </a:extLst>
          </p:cNvPr>
          <p:cNvSpPr>
            <a:spLocks noGrp="1"/>
          </p:cNvSpPr>
          <p:nvPr>
            <p:ph type="title" hasCustomPrompt="1"/>
          </p:nvPr>
        </p:nvSpPr>
        <p:spPr>
          <a:xfrm>
            <a:off x="6222118" y="262762"/>
            <a:ext cx="5507421" cy="3649718"/>
          </a:xfrm>
        </p:spPr>
        <p:txBody>
          <a:bodyPr anchor="b">
            <a:normAutofit/>
          </a:bodyPr>
          <a:lstStyle>
            <a:lvl1pPr>
              <a:defRPr sz="6000"/>
            </a:lvl1pPr>
          </a:lstStyle>
          <a:p>
            <a:r>
              <a:rPr lang="en-US" dirty="0"/>
              <a:t>Click to add title</a:t>
            </a:r>
          </a:p>
        </p:txBody>
      </p:sp>
      <p:sp>
        <p:nvSpPr>
          <p:cNvPr id="8" name="Picture Placeholder 7">
            <a:extLst>
              <a:ext uri="{FF2B5EF4-FFF2-40B4-BE49-F238E27FC236}">
                <a16:creationId xmlns:a16="http://schemas.microsoft.com/office/drawing/2014/main" id="{74C9CB37-5251-201C-ACE3-FD69A00C772E}"/>
              </a:ext>
            </a:extLst>
          </p:cNvPr>
          <p:cNvSpPr>
            <a:spLocks noGrp="1"/>
          </p:cNvSpPr>
          <p:nvPr>
            <p:ph type="pic" sz="quarter" idx="14"/>
          </p:nvPr>
        </p:nvSpPr>
        <p:spPr>
          <a:xfrm>
            <a:off x="707393" y="847600"/>
            <a:ext cx="4619625" cy="4617720"/>
          </a:xfrm>
          <a:prstGeom prst="ellipse">
            <a:avLst/>
          </a:prstGeom>
          <a:noFill/>
        </p:spPr>
        <p:txBody>
          <a:bodyPr tIns="548640">
            <a:normAutofit/>
          </a:bodyPr>
          <a:lstStyle>
            <a:lvl1pPr marL="0" indent="0" algn="ctr">
              <a:buNone/>
              <a:defRPr sz="2000"/>
            </a:lvl1pPr>
          </a:lstStyle>
          <a:p>
            <a:r>
              <a:rPr lang="en-US" dirty="0"/>
              <a:t>Click icon to add picture</a:t>
            </a:r>
          </a:p>
        </p:txBody>
      </p:sp>
      <p:sp>
        <p:nvSpPr>
          <p:cNvPr id="9" name="Content Placeholder 2">
            <a:extLst>
              <a:ext uri="{FF2B5EF4-FFF2-40B4-BE49-F238E27FC236}">
                <a16:creationId xmlns:a16="http://schemas.microsoft.com/office/drawing/2014/main" id="{EBF08299-9068-827D-783B-BFF5B95E9574}"/>
              </a:ext>
            </a:extLst>
          </p:cNvPr>
          <p:cNvSpPr>
            <a:spLocks noGrp="1"/>
          </p:cNvSpPr>
          <p:nvPr>
            <p:ph idx="1" hasCustomPrompt="1"/>
          </p:nvPr>
        </p:nvSpPr>
        <p:spPr>
          <a:xfrm>
            <a:off x="6222118" y="4058263"/>
            <a:ext cx="5507421" cy="2141482"/>
          </a:xfrm>
        </p:spPr>
        <p:txBody>
          <a:bodyPr>
            <a:normAutofit/>
          </a:bodyPr>
          <a:lstStyle>
            <a:lvl1pPr marL="0" indent="0">
              <a:lnSpc>
                <a:spcPct val="90000"/>
              </a:lnSpc>
              <a:buFont typeface="Arial" panose="020B0604020202020204" pitchFamily="34" charset="0"/>
              <a:buNone/>
              <a:defRPr sz="2400"/>
            </a:lvl1pPr>
            <a:lvl2pPr marL="228600">
              <a:lnSpc>
                <a:spcPct val="90000"/>
              </a:lnSpc>
              <a:buClr>
                <a:schemeClr val="accent2"/>
              </a:buClr>
              <a:defRPr sz="2000"/>
            </a:lvl2pPr>
            <a:lvl3pPr marL="457200">
              <a:lnSpc>
                <a:spcPct val="90000"/>
              </a:lnSpc>
              <a:buClr>
                <a:schemeClr val="accent2"/>
              </a:buClr>
              <a:defRPr sz="1800"/>
            </a:lvl3pPr>
            <a:lvl4pPr marL="685800">
              <a:lnSpc>
                <a:spcPct val="90000"/>
              </a:lnSpc>
              <a:buClr>
                <a:schemeClr val="accent2"/>
              </a:buClr>
              <a:defRPr sz="1600"/>
            </a:lvl4pPr>
            <a:lvl5pPr>
              <a:lnSpc>
                <a:spcPct val="110000"/>
              </a:lnSpc>
              <a:defRPr/>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dirty="0">
                <a:solidFill>
                  <a:prstClr val="black">
                    <a:tint val="75000"/>
                  </a:prstClr>
                </a:solidFill>
              </a:rPr>
              <a:t>Pitch deck</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17468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anchor="ctr" anchorCtr="0">
            <a:noAutofit/>
          </a:bodyPr>
          <a:lstStyle/>
          <a:p>
            <a:r>
              <a:rPr lang="en-US" dirty="0"/>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a:normAutofit/>
          </a:bodyPr>
          <a:lstStyle>
            <a:lvl1pPr>
              <a:lnSpc>
                <a:spcPct val="90000"/>
              </a:lnSpc>
              <a:spcBef>
                <a:spcPts val="1000"/>
              </a:spcBef>
              <a:spcAft>
                <a:spcPts val="800"/>
              </a:spcAft>
              <a:buClr>
                <a:schemeClr val="accent2"/>
              </a:buClr>
              <a:defRPr sz="1800"/>
            </a:lvl1pPr>
            <a:lvl2pPr>
              <a:lnSpc>
                <a:spcPct val="90000"/>
              </a:lnSpc>
              <a:spcBef>
                <a:spcPts val="1000"/>
              </a:spcBef>
              <a:spcAft>
                <a:spcPts val="800"/>
              </a:spcAft>
              <a:buClr>
                <a:schemeClr val="accent2"/>
              </a:buClr>
              <a:defRPr sz="1600"/>
            </a:lvl2pPr>
            <a:lvl3pPr>
              <a:lnSpc>
                <a:spcPct val="90000"/>
              </a:lnSpc>
              <a:spcBef>
                <a:spcPts val="1000"/>
              </a:spcBef>
              <a:spcAft>
                <a:spcPts val="800"/>
              </a:spcAft>
              <a:buClr>
                <a:schemeClr val="accent2"/>
              </a:buClr>
              <a:defRPr sz="1400"/>
            </a:lvl3pPr>
            <a:lvl4pPr>
              <a:lnSpc>
                <a:spcPct val="90000"/>
              </a:lnSpc>
              <a:spcBef>
                <a:spcPts val="1000"/>
              </a:spcBef>
              <a:spcAft>
                <a:spcPts val="800"/>
              </a:spcAft>
              <a:buClr>
                <a:schemeClr val="accent2"/>
              </a:buClr>
              <a:defRPr sz="1200"/>
            </a:lvl4pPr>
            <a:lvl5pPr>
              <a:lnSpc>
                <a:spcPct val="90000"/>
              </a:lnSpc>
              <a:spcBef>
                <a:spcPts val="1000"/>
              </a:spcBef>
              <a:spcAft>
                <a:spcPts val="800"/>
              </a:spcAft>
              <a:buClr>
                <a:schemeClr val="accent2"/>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xmlns=""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xmlns=""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xmlns=""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xmlns=""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xmlns="" val="1"/>
              </a:ext>
            </a:extLst>
          </p:cNvPr>
          <p:cNvGrpSpPr/>
          <p:nvPr userDrawn="1"/>
        </p:nvGrpSpPr>
        <p:grpSpPr>
          <a:xfrm>
            <a:off x="577652" y="0"/>
            <a:ext cx="8798419" cy="6816262"/>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xmlns=""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xmlns=""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anchor="ctr">
            <a:noAutofit/>
          </a:bodyPr>
          <a:lstStyle>
            <a:lvl1pPr algn="ctr">
              <a:defRPr sz="6000">
                <a:solidFill>
                  <a:schemeClr val="bg1"/>
                </a:solidFill>
              </a:defRPr>
            </a:lvl1pPr>
          </a:lstStyle>
          <a:p>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xmlns="" val="1"/>
              </a:ext>
            </a:extLst>
          </p:cNvPr>
          <p:cNvGrpSpPr/>
          <p:nvPr userDrawn="1"/>
        </p:nvGrpSpPr>
        <p:grpSpPr>
          <a:xfrm>
            <a:off x="123536" y="2"/>
            <a:ext cx="12068464" cy="6857998"/>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dirty="0"/>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a:normAutofit/>
          </a:bodyPr>
          <a:lstStyle>
            <a:lvl1pPr marL="228600" indent="-228600">
              <a:spcBef>
                <a:spcPts val="1000"/>
              </a:spcBef>
              <a:spcAft>
                <a:spcPts val="800"/>
              </a:spcAft>
              <a:buClr>
                <a:schemeClr val="accent2"/>
              </a:buClr>
              <a:buFont typeface="Arial" panose="020B0604020202020204" pitchFamily="34" charset="0"/>
              <a:buChar char="•"/>
              <a:defRPr sz="1800"/>
            </a:lvl1pPr>
            <a:lvl2pPr marL="285750" indent="-285750">
              <a:spcBef>
                <a:spcPts val="1000"/>
              </a:spcBef>
              <a:spcAft>
                <a:spcPts val="800"/>
              </a:spcAft>
              <a:buClr>
                <a:schemeClr val="accent2"/>
              </a:buClr>
              <a:buFont typeface="Arial" panose="020B0604020202020204" pitchFamily="34" charset="0"/>
              <a:buChar char="•"/>
              <a:defRPr sz="1800"/>
            </a:lvl2pPr>
            <a:lvl3pPr marL="651510" indent="-285750">
              <a:spcBef>
                <a:spcPts val="1000"/>
              </a:spcBef>
              <a:spcAft>
                <a:spcPts val="800"/>
              </a:spcAft>
              <a:buClr>
                <a:schemeClr val="accent2"/>
              </a:buClr>
              <a:buFont typeface="Arial" panose="020B0604020202020204" pitchFamily="34" charset="0"/>
              <a:buChar char="•"/>
              <a:defRPr sz="1800"/>
            </a:lvl3pPr>
            <a:lvl4pPr marL="925830" indent="-285750">
              <a:spcBef>
                <a:spcPts val="1000"/>
              </a:spcBef>
              <a:spcAft>
                <a:spcPts val="800"/>
              </a:spcAft>
              <a:buClr>
                <a:schemeClr val="accent2"/>
              </a:buClr>
              <a:buFont typeface="Arial" panose="020B0604020202020204" pitchFamily="34" charset="0"/>
              <a:buChar char="•"/>
              <a:defRPr sz="1800"/>
            </a:lvl4pPr>
            <a:lvl5pPr marL="1200150" indent="-28575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a:normAutofit/>
          </a:bodyPr>
          <a:lstStyle>
            <a:lvl1pPr marL="0" indent="0">
              <a:spcBef>
                <a:spcPts val="1000"/>
              </a:spcBef>
              <a:spcAft>
                <a:spcPts val="800"/>
              </a:spcAft>
              <a:buNone/>
              <a:defRPr sz="1800"/>
            </a:lvl1pPr>
            <a:lvl2pPr marL="228600" indent="-228600">
              <a:spcBef>
                <a:spcPts val="1000"/>
              </a:spcBef>
              <a:spcAft>
                <a:spcPts val="800"/>
              </a:spcAft>
              <a:buClr>
                <a:schemeClr val="accent2"/>
              </a:buClr>
              <a:buFont typeface="Arial" panose="020B0604020202020204" pitchFamily="34" charset="0"/>
              <a:buChar char="•"/>
              <a:defRPr sz="1800"/>
            </a:lvl2pPr>
            <a:lvl3pPr marL="594360" indent="-228600">
              <a:spcBef>
                <a:spcPts val="1000"/>
              </a:spcBef>
              <a:spcAft>
                <a:spcPts val="800"/>
              </a:spcAft>
              <a:buClr>
                <a:schemeClr val="accent2"/>
              </a:buClr>
              <a:buFont typeface="Arial" panose="020B0604020202020204" pitchFamily="34" charset="0"/>
              <a:buChar char="•"/>
              <a:defRPr sz="1800"/>
            </a:lvl3pPr>
            <a:lvl4pPr marL="868680" indent="-228600">
              <a:spcBef>
                <a:spcPts val="1000"/>
              </a:spcBef>
              <a:spcAft>
                <a:spcPts val="800"/>
              </a:spcAft>
              <a:buClr>
                <a:schemeClr val="accent2"/>
              </a:buClr>
              <a:buFont typeface="Arial" panose="020B0604020202020204" pitchFamily="34" charset="0"/>
              <a:buChar char="•"/>
              <a:defRPr sz="1800"/>
            </a:lvl4pPr>
            <a:lvl5pPr marL="1143000" indent="-22860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xmlns=""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xmlns=""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xmlns=""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xmlns="" val="1"/>
              </a:ext>
            </a:extLst>
          </p:cNvPr>
          <p:cNvGrpSpPr/>
          <p:nvPr userDrawn="1"/>
        </p:nvGrpSpPr>
        <p:grpSpPr>
          <a:xfrm>
            <a:off x="0" y="7458"/>
            <a:ext cx="7083733" cy="618220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anchor="b" anchorCtr="0">
            <a:noAutofit/>
          </a:bodyPr>
          <a:lstStyle>
            <a:lvl1pPr>
              <a:defRPr/>
            </a:lvl1pPr>
          </a:lstStyle>
          <a:p>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413114" y="845068"/>
            <a:ext cx="5193792" cy="5193792"/>
          </a:xfrm>
          <a:prstGeom prst="ellipse">
            <a:avLst/>
          </a:prstGeom>
        </p:spPr>
        <p:txBody>
          <a:bodyPr/>
          <a:lstStyle>
            <a:lvl1pPr marL="0" indent="0" algn="ctr">
              <a:buNone/>
              <a:defRPr/>
            </a:lvl1pPr>
          </a:lstStyle>
          <a:p>
            <a:r>
              <a:rPr lang="en-US" dirty="0"/>
              <a:t>Click icon to add picture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xmlns="" val="1"/>
              </a:ext>
            </a:extLst>
          </p:cNvPr>
          <p:cNvGrpSpPr/>
          <p:nvPr userDrawn="1"/>
        </p:nvGrpSpPr>
        <p:grpSpPr>
          <a:xfrm>
            <a:off x="123536" y="2"/>
            <a:ext cx="11220225" cy="6857998"/>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038599" y="1825625"/>
            <a:ext cx="7315199" cy="4297680"/>
          </a:xfrm>
        </p:spPr>
        <p:txBody>
          <a:bodyPr>
            <a:normAutofit/>
          </a:bodyPr>
          <a:lstStyle>
            <a:lvl1pPr marL="0" indent="0">
              <a:buNone/>
              <a:defRPr sz="2400"/>
            </a:lvl1pPr>
          </a:lstStyle>
          <a:p>
            <a:r>
              <a:rPr lang="en-US" dirty="0"/>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xmlns=""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xmlns=""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xmlns=""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sz="1800"/>
            </a:lvl1pPr>
            <a:lvl2pPr>
              <a:spcBef>
                <a:spcPts val="500"/>
              </a:spcBef>
              <a:spcAft>
                <a:spcPts val="800"/>
              </a:spcAft>
              <a:buClr>
                <a:schemeClr val="accent2"/>
              </a:buClr>
              <a:defRPr sz="1800"/>
            </a:lvl2pPr>
            <a:lvl3pPr>
              <a:spcBef>
                <a:spcPts val="1000"/>
              </a:spcBef>
              <a:buClr>
                <a:schemeClr val="accent2"/>
              </a:buClr>
              <a:defRPr sz="1800"/>
            </a:lvl3pPr>
            <a:lvl4pPr>
              <a:spcBef>
                <a:spcPts val="1000"/>
              </a:spcBef>
              <a:buClr>
                <a:schemeClr val="accent2"/>
              </a:buClr>
              <a:defRPr sz="1800"/>
            </a:lvl4pPr>
            <a:lvl5pPr>
              <a:spcBef>
                <a:spcPts val="1000"/>
              </a:spcBef>
              <a:buClr>
                <a:schemeClr val="accent2"/>
              </a:buCl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a:normAutofit/>
          </a:bodyPr>
          <a:lstStyle>
            <a:lvl1pPr>
              <a:defRPr sz="2400"/>
            </a:lvl1pPr>
          </a:lstStyle>
          <a:p>
            <a:r>
              <a:rPr lang="en-US" dirty="0"/>
              <a:t>Click icon to add table</a:t>
            </a:r>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xmlns="" val="1"/>
              </a:ext>
            </a:extLst>
          </p:cNvPr>
          <p:cNvGrpSpPr/>
          <p:nvPr userDrawn="1"/>
        </p:nvGrpSpPr>
        <p:grpSpPr>
          <a:xfrm>
            <a:off x="0" y="0"/>
            <a:ext cx="5930138" cy="68580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a:noAutofit/>
          </a:bodyPr>
          <a:lstStyle>
            <a:lvl1pPr algn="ctr">
              <a:defRPr sz="4400">
                <a:solidFill>
                  <a:schemeClr val="bg1"/>
                </a:solidFill>
              </a:defRPr>
            </a:lvl1pPr>
          </a:lstStyle>
          <a:p>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11/24/2025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11/24/2025</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67" r:id="rId4"/>
    <p:sldLayoutId id="2147483650" r:id="rId5"/>
    <p:sldLayoutId id="2147483649" r:id="rId6"/>
    <p:sldLayoutId id="2147483662" r:id="rId7"/>
    <p:sldLayoutId id="2147483663" r:id="rId8"/>
    <p:sldLayoutId id="2147483652" r:id="rId9"/>
    <p:sldLayoutId id="2147483666" r:id="rId10"/>
    <p:sldLayoutId id="2147483664" r:id="rId11"/>
    <p:sldLayoutId id="2147483665"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4007458" y="2949739"/>
            <a:ext cx="7438308" cy="1033864"/>
          </a:xfrm>
          <a:noFill/>
        </p:spPr>
        <p:txBody>
          <a:bodyPr anchor="b">
            <a:noAutofit/>
          </a:bodyPr>
          <a:lstStyle/>
          <a:p>
            <a:r>
              <a:rPr lang="en-US" sz="5400" dirty="0" err="1" smtClean="0"/>
              <a:t>Chatline</a:t>
            </a:r>
            <a:r>
              <a:rPr lang="en-US" dirty="0" smtClean="0"/>
              <a:t> </a:t>
            </a:r>
            <a:br>
              <a:rPr lang="en-US" dirty="0" smtClean="0"/>
            </a:br>
            <a:r>
              <a:rPr lang="en-US" dirty="0" smtClean="0"/>
              <a:t>A Real Time Chat Application</a:t>
            </a:r>
            <a:endParaRPr lang="en-US" dirty="0"/>
          </a:p>
        </p:txBody>
      </p:sp>
      <p:sp>
        <p:nvSpPr>
          <p:cNvPr id="2" name="TextBox 1"/>
          <p:cNvSpPr txBox="1"/>
          <p:nvPr/>
        </p:nvSpPr>
        <p:spPr>
          <a:xfrm>
            <a:off x="8499944" y="4532244"/>
            <a:ext cx="3252084" cy="1131848"/>
          </a:xfrm>
          <a:prstGeom prst="rect">
            <a:avLst/>
          </a:prstGeom>
          <a:noFill/>
        </p:spPr>
        <p:txBody>
          <a:bodyPr wrap="square" rtlCol="0">
            <a:spAutoFit/>
          </a:bodyPr>
          <a:lstStyle/>
          <a:p>
            <a:pPr>
              <a:lnSpc>
                <a:spcPct val="150000"/>
              </a:lnSpc>
            </a:pPr>
            <a:r>
              <a:rPr lang="en-US" sz="2400" dirty="0" smtClean="0">
                <a:solidFill>
                  <a:schemeClr val="bg1"/>
                </a:solidFill>
                <a:latin typeface="Tw Cen MT (Headings)"/>
              </a:rPr>
              <a:t>By  :-  Sujal Munikar</a:t>
            </a:r>
          </a:p>
          <a:p>
            <a:pPr indent="858838">
              <a:lnSpc>
                <a:spcPct val="150000"/>
              </a:lnSpc>
            </a:pPr>
            <a:r>
              <a:rPr lang="en-US" sz="2400" dirty="0" err="1" smtClean="0">
                <a:solidFill>
                  <a:schemeClr val="bg1"/>
                </a:solidFill>
                <a:latin typeface="Tw Cen MT (Headings)"/>
              </a:rPr>
              <a:t>Sandesh</a:t>
            </a:r>
            <a:r>
              <a:rPr lang="en-US" sz="2400" dirty="0" smtClean="0">
                <a:solidFill>
                  <a:schemeClr val="bg1"/>
                </a:solidFill>
                <a:latin typeface="Tw Cen MT (Headings)"/>
              </a:rPr>
              <a:t> Bata</a:t>
            </a:r>
            <a:endParaRPr lang="en-US" sz="2400" dirty="0">
              <a:solidFill>
                <a:schemeClr val="bg1"/>
              </a:solidFill>
              <a:latin typeface="Tw Cen MT (Headings)"/>
            </a:endParaRPr>
          </a:p>
        </p:txBody>
      </p:sp>
    </p:spTree>
    <p:extLst>
      <p:ext uri="{BB962C8B-B14F-4D97-AF65-F5344CB8AC3E}">
        <p14:creationId xmlns:p14="http://schemas.microsoft.com/office/powerpoint/2010/main" val="517426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09957" y="1119031"/>
            <a:ext cx="4384736" cy="4619938"/>
          </a:xfrm>
          <a:noFill/>
        </p:spPr>
        <p:txBody>
          <a:bodyPr>
            <a:noAutofit/>
          </a:bodyPr>
          <a:lstStyle/>
          <a:p>
            <a:r>
              <a:rPr lang="en-US" dirty="0" smtClean="0"/>
              <a:t>Contents </a:t>
            </a:r>
            <a:endParaRPr lang="en-US" dirty="0"/>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801708" y="570844"/>
            <a:ext cx="5552091" cy="5768220"/>
          </a:xfrm>
          <a:noFill/>
        </p:spPr>
        <p:txBody>
          <a:bodyPr>
            <a:normAutofit/>
          </a:bodyPr>
          <a:lstStyle/>
          <a:p>
            <a:r>
              <a:rPr lang="en-US" dirty="0" smtClean="0"/>
              <a:t>- Introduction</a:t>
            </a:r>
            <a:endParaRPr lang="en-US" dirty="0"/>
          </a:p>
          <a:p>
            <a:r>
              <a:rPr lang="en-US" dirty="0" smtClean="0"/>
              <a:t>- Objectives</a:t>
            </a:r>
            <a:endParaRPr lang="en-US" dirty="0"/>
          </a:p>
          <a:p>
            <a:r>
              <a:rPr lang="en-US" dirty="0" smtClean="0"/>
              <a:t>- Scope &amp; Limitation</a:t>
            </a:r>
            <a:endParaRPr lang="en-US" dirty="0"/>
          </a:p>
          <a:p>
            <a:r>
              <a:rPr lang="en-US" dirty="0" smtClean="0"/>
              <a:t>- System Architecture Overview</a:t>
            </a:r>
            <a:endParaRPr lang="en-US" dirty="0"/>
          </a:p>
          <a:p>
            <a:r>
              <a:rPr lang="en-US" dirty="0" smtClean="0"/>
              <a:t>- Model Diagram</a:t>
            </a:r>
          </a:p>
          <a:p>
            <a:r>
              <a:rPr lang="en-US" dirty="0" smtClean="0"/>
              <a:t>- Algorithm Used</a:t>
            </a:r>
            <a:endParaRPr lang="en-US" dirty="0"/>
          </a:p>
        </p:txBody>
      </p:sp>
    </p:spTree>
    <p:extLst>
      <p:ext uri="{BB962C8B-B14F-4D97-AF65-F5344CB8AC3E}">
        <p14:creationId xmlns:p14="http://schemas.microsoft.com/office/powerpoint/2010/main" val="39207244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1"/>
          <p:cNvSpPr txBox="1">
            <a:spLocks/>
          </p:cNvSpPr>
          <p:nvPr/>
        </p:nvSpPr>
        <p:spPr>
          <a:xfrm>
            <a:off x="717780" y="1079558"/>
            <a:ext cx="4619625" cy="4617720"/>
          </a:xfrm>
          <a:prstGeom prst="ellipse">
            <a:avLst/>
          </a:prstGeom>
          <a:solidFill>
            <a:schemeClr val="accent6"/>
          </a:solidFill>
        </p:spPr>
        <p:txBody>
          <a:bodyPr vert="horz" lIns="91440" tIns="548640" rIns="91440" bIns="45720" rtlCol="0">
            <a:normAutofit/>
          </a:bodyPr>
          <a:lstStyle/>
          <a:p>
            <a:endParaRPr lang="en-US" sz="4400" dirty="0">
              <a:solidFill>
                <a:schemeClr val="bg1"/>
              </a:solidFill>
              <a:latin typeface="Tw Cen MT (Headings)"/>
            </a:endParaRPr>
          </a:p>
        </p:txBody>
      </p:sp>
      <p:sp>
        <p:nvSpPr>
          <p:cNvPr id="4" name="Title 3">
            <a:extLst>
              <a:ext uri="{FF2B5EF4-FFF2-40B4-BE49-F238E27FC236}">
                <a16:creationId xmlns:a16="http://schemas.microsoft.com/office/drawing/2014/main" id="{82513E45-4F5C-9394-1D42-7FB6C0170D83}"/>
              </a:ext>
            </a:extLst>
          </p:cNvPr>
          <p:cNvSpPr>
            <a:spLocks noGrp="1"/>
          </p:cNvSpPr>
          <p:nvPr>
            <p:ph type="title"/>
          </p:nvPr>
        </p:nvSpPr>
        <p:spPr>
          <a:xfrm>
            <a:off x="6050860" y="978010"/>
            <a:ext cx="5812486" cy="1717483"/>
          </a:xfrm>
        </p:spPr>
        <p:txBody>
          <a:bodyPr anchor="b">
            <a:noAutofit/>
          </a:bodyPr>
          <a:lstStyle/>
          <a:p>
            <a:pPr>
              <a:lnSpc>
                <a:spcPct val="100000"/>
              </a:lnSpc>
            </a:pPr>
            <a:r>
              <a:rPr lang="en-US" sz="2400" dirty="0" err="1" smtClean="0"/>
              <a:t>Chatline</a:t>
            </a:r>
            <a:r>
              <a:rPr lang="en-US" sz="2400" dirty="0" smtClean="0"/>
              <a:t>, the project created to provide encrypted end to end messaging while using real-time communication to safeguard your sensitive information.</a:t>
            </a:r>
            <a:endParaRPr lang="en-US" sz="2400" dirty="0"/>
          </a:p>
        </p:txBody>
      </p:sp>
      <p:sp>
        <p:nvSpPr>
          <p:cNvPr id="3" name="TextBox 2"/>
          <p:cNvSpPr txBox="1"/>
          <p:nvPr/>
        </p:nvSpPr>
        <p:spPr>
          <a:xfrm>
            <a:off x="1431235" y="2848840"/>
            <a:ext cx="3560990" cy="769441"/>
          </a:xfrm>
          <a:prstGeom prst="rect">
            <a:avLst/>
          </a:prstGeom>
          <a:noFill/>
        </p:spPr>
        <p:txBody>
          <a:bodyPr wrap="square" rtlCol="0">
            <a:spAutoFit/>
          </a:bodyPr>
          <a:lstStyle/>
          <a:p>
            <a:r>
              <a:rPr lang="en-US" sz="4400" b="1" dirty="0" smtClean="0">
                <a:solidFill>
                  <a:schemeClr val="bg1"/>
                </a:solidFill>
                <a:latin typeface="Tw Cen MT (Headings)"/>
              </a:rPr>
              <a:t>Introduction</a:t>
            </a:r>
            <a:endParaRPr lang="en-US" sz="4400" b="1" dirty="0">
              <a:solidFill>
                <a:schemeClr val="bg1"/>
              </a:solidFill>
              <a:latin typeface="Tw Cen MT (Headings)"/>
            </a:endParaRPr>
          </a:p>
        </p:txBody>
      </p:sp>
      <p:sp>
        <p:nvSpPr>
          <p:cNvPr id="8" name="Title 3">
            <a:extLst>
              <a:ext uri="{FF2B5EF4-FFF2-40B4-BE49-F238E27FC236}">
                <a16:creationId xmlns:a16="http://schemas.microsoft.com/office/drawing/2014/main" id="{82513E45-4F5C-9394-1D42-7FB6C0170D83}"/>
              </a:ext>
            </a:extLst>
          </p:cNvPr>
          <p:cNvSpPr txBox="1">
            <a:spLocks/>
          </p:cNvSpPr>
          <p:nvPr/>
        </p:nvSpPr>
        <p:spPr>
          <a:xfrm>
            <a:off x="6050860" y="2790909"/>
            <a:ext cx="5812486" cy="3760966"/>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US" sz="2400" i="1" dirty="0" smtClean="0"/>
              <a:t>As Privacy is important in this digital age for using any application, Our projects main concern is to create an app with encryption for sending and receiving messages while also protecting their identity in real-time Communication. </a:t>
            </a:r>
          </a:p>
          <a:p>
            <a:pPr>
              <a:lnSpc>
                <a:spcPct val="100000"/>
              </a:lnSpc>
            </a:pPr>
            <a:endParaRPr lang="en-US" sz="500" i="1" dirty="0" smtClean="0"/>
          </a:p>
          <a:p>
            <a:pPr>
              <a:lnSpc>
                <a:spcPct val="100000"/>
              </a:lnSpc>
            </a:pPr>
            <a:r>
              <a:rPr lang="en-US" sz="2400" i="1" dirty="0" smtClean="0"/>
              <a:t>Our application employs RSA encryption for encryption, Hashing for securing user information while Socket.io for real-time communication.</a:t>
            </a:r>
          </a:p>
        </p:txBody>
      </p:sp>
    </p:spTree>
    <p:extLst>
      <p:ext uri="{BB962C8B-B14F-4D97-AF65-F5344CB8AC3E}">
        <p14:creationId xmlns:p14="http://schemas.microsoft.com/office/powerpoint/2010/main" val="32939243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304803"/>
            <a:ext cx="10515600" cy="1472974"/>
          </a:xfrm>
          <a:noFill/>
        </p:spPr>
        <p:txBody>
          <a:bodyPr anchor="ctr"/>
          <a:lstStyle/>
          <a:p>
            <a:r>
              <a:rPr lang="en-US" dirty="0" smtClean="0"/>
              <a:t>Objectives</a:t>
            </a: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3"/>
          </p:nvPr>
        </p:nvSpPr>
        <p:spPr>
          <a:xfrm>
            <a:off x="838200" y="1838099"/>
            <a:ext cx="8560242" cy="4284889"/>
          </a:xfrm>
          <a:noFill/>
        </p:spPr>
        <p:txBody>
          <a:bodyPr vert="horz" lIns="91440" tIns="45720" rIns="91440" bIns="45720" rtlCol="0" anchor="t">
            <a:normAutofit/>
          </a:bodyPr>
          <a:lstStyle/>
          <a:p>
            <a:pPr>
              <a:lnSpc>
                <a:spcPct val="150000"/>
              </a:lnSpc>
            </a:pPr>
            <a:r>
              <a:rPr lang="en-US" sz="2000" dirty="0" smtClean="0"/>
              <a:t>To develop a application for sending and receiving secure messages.</a:t>
            </a:r>
            <a:endParaRPr lang="en-US" sz="2000" dirty="0"/>
          </a:p>
          <a:p>
            <a:pPr>
              <a:lnSpc>
                <a:spcPct val="150000"/>
              </a:lnSpc>
            </a:pPr>
            <a:r>
              <a:rPr lang="en-US" sz="2000" dirty="0" smtClean="0"/>
              <a:t>To create a clean and modern UI interface with responsive interaction.</a:t>
            </a:r>
            <a:endParaRPr lang="en-US" sz="2000" dirty="0"/>
          </a:p>
          <a:p>
            <a:pPr>
              <a:lnSpc>
                <a:spcPct val="150000"/>
              </a:lnSpc>
            </a:pPr>
            <a:r>
              <a:rPr lang="en-US" sz="2000" dirty="0" smtClean="0"/>
              <a:t>User-to-user communication with friend system.</a:t>
            </a:r>
            <a:endParaRPr lang="en-US" sz="2000" dirty="0"/>
          </a:p>
          <a:p>
            <a:pPr>
              <a:lnSpc>
                <a:spcPct val="150000"/>
              </a:lnSpc>
            </a:pPr>
            <a:r>
              <a:rPr lang="en-US" sz="2000" dirty="0" smtClean="0"/>
              <a:t>Real-time messaging with encryption and secured Information with no interruption by anybody</a:t>
            </a:r>
            <a:r>
              <a:rPr lang="en-US" sz="2000" dirty="0" smtClean="0"/>
              <a:t>.</a:t>
            </a:r>
            <a:endParaRPr lang="en-US" sz="2000" dirty="0"/>
          </a:p>
        </p:txBody>
      </p:sp>
    </p:spTree>
    <p:extLst>
      <p:ext uri="{BB962C8B-B14F-4D97-AF65-F5344CB8AC3E}">
        <p14:creationId xmlns:p14="http://schemas.microsoft.com/office/powerpoint/2010/main" val="36666746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125"/>
            <a:ext cx="10515600" cy="1325563"/>
          </a:xfrm>
          <a:noFill/>
        </p:spPr>
        <p:txBody>
          <a:bodyPr anchor="ctr"/>
          <a:lstStyle/>
          <a:p>
            <a:r>
              <a:rPr lang="en-US" dirty="0" smtClean="0"/>
              <a:t>Scope &amp; Limitation</a:t>
            </a:r>
            <a:endParaRPr lang="en-US" dirty="0"/>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838200" y="1825625"/>
            <a:ext cx="4915163" cy="4297680"/>
          </a:xfrm>
          <a:noFill/>
        </p:spPr>
        <p:txBody>
          <a:bodyPr>
            <a:normAutofit/>
          </a:bodyPr>
          <a:lstStyle/>
          <a:p>
            <a:r>
              <a:rPr lang="en-US" dirty="0" smtClean="0"/>
              <a:t>Application created to give access to user after verification and sharing messages.</a:t>
            </a:r>
            <a:endParaRPr lang="en-US" dirty="0"/>
          </a:p>
          <a:p>
            <a:pPr lvl="1"/>
            <a:r>
              <a:rPr lang="en-US" dirty="0" smtClean="0"/>
              <a:t>Real-time messaging with socket.io</a:t>
            </a:r>
            <a:endParaRPr lang="en-US" dirty="0"/>
          </a:p>
          <a:p>
            <a:pPr lvl="1"/>
            <a:r>
              <a:rPr lang="en-US" dirty="0" smtClean="0"/>
              <a:t>Secure key exchange mechanism for encrypted messaging.</a:t>
            </a:r>
            <a:endParaRPr lang="en-US" dirty="0"/>
          </a:p>
          <a:p>
            <a:pPr lvl="1"/>
            <a:r>
              <a:rPr lang="en-US" dirty="0" smtClean="0"/>
              <a:t>Text filtering to block inappropriate words.</a:t>
            </a:r>
          </a:p>
          <a:p>
            <a:pPr lvl="1"/>
            <a:r>
              <a:rPr lang="en-US" dirty="0" smtClean="0"/>
              <a:t>Friend system to create connection.</a:t>
            </a:r>
          </a:p>
          <a:p>
            <a:pPr lvl="1"/>
            <a:r>
              <a:rPr lang="en-US" dirty="0" smtClean="0"/>
              <a:t>User Activity Indicator.</a:t>
            </a:r>
            <a:endParaRPr lang="en-US" dirty="0"/>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6147896" y="1816916"/>
            <a:ext cx="5212080" cy="4297680"/>
          </a:xfrm>
          <a:noFill/>
        </p:spPr>
        <p:txBody>
          <a:bodyPr>
            <a:normAutofit/>
          </a:bodyPr>
          <a:lstStyle/>
          <a:p>
            <a:r>
              <a:rPr lang="en-US" dirty="0" smtClean="0"/>
              <a:t>There are some weaknes</a:t>
            </a:r>
            <a:r>
              <a:rPr lang="en-US" dirty="0" smtClean="0"/>
              <a:t>s here and they are:</a:t>
            </a:r>
            <a:endParaRPr lang="en-US" dirty="0"/>
          </a:p>
          <a:p>
            <a:pPr lvl="1"/>
            <a:r>
              <a:rPr lang="en-US" dirty="0" smtClean="0"/>
              <a:t>Does not support image, audio or video.</a:t>
            </a:r>
            <a:endParaRPr lang="en-US" dirty="0"/>
          </a:p>
          <a:p>
            <a:pPr lvl="1"/>
            <a:r>
              <a:rPr lang="en-US" dirty="0" smtClean="0"/>
              <a:t>Does not allow sending multi-line messages.</a:t>
            </a:r>
            <a:endParaRPr lang="en-US" dirty="0"/>
          </a:p>
          <a:p>
            <a:pPr lvl="1"/>
            <a:r>
              <a:rPr lang="en-US" dirty="0" smtClean="0"/>
              <a:t>No indication for new messages being sent.</a:t>
            </a:r>
            <a:endParaRPr lang="en-US" dirty="0"/>
          </a:p>
          <a:p>
            <a:pPr lvl="1"/>
            <a:r>
              <a:rPr lang="en-US" dirty="0" smtClean="0"/>
              <a:t>Only support email-based Verification.</a:t>
            </a:r>
            <a:endParaRPr lang="en-US" dirty="0"/>
          </a:p>
        </p:txBody>
      </p:sp>
    </p:spTree>
    <p:extLst>
      <p:ext uri="{BB962C8B-B14F-4D97-AF65-F5344CB8AC3E}">
        <p14:creationId xmlns:p14="http://schemas.microsoft.com/office/powerpoint/2010/main" val="11276497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125"/>
            <a:ext cx="10515600" cy="1325563"/>
          </a:xfrm>
          <a:noFill/>
        </p:spPr>
        <p:txBody>
          <a:bodyPr anchor="ctr"/>
          <a:lstStyle/>
          <a:p>
            <a:r>
              <a:rPr lang="en-US" dirty="0" smtClean="0"/>
              <a:t>System Architecture Overview</a:t>
            </a:r>
            <a:endParaRPr lang="en-US" dirty="0"/>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half" idx="15"/>
          </p:nvPr>
        </p:nvSpPr>
        <p:spPr>
          <a:xfrm>
            <a:off x="838199" y="1594278"/>
            <a:ext cx="9546204" cy="4504371"/>
          </a:xfrm>
          <a:noFill/>
        </p:spPr>
        <p:txBody>
          <a:bodyPr>
            <a:normAutofit/>
          </a:bodyPr>
          <a:lstStyle/>
          <a:p>
            <a:pPr>
              <a:lnSpc>
                <a:spcPct val="100000"/>
              </a:lnSpc>
            </a:pPr>
            <a:r>
              <a:rPr lang="en-US" dirty="0" smtClean="0">
                <a:latin typeface="Tw Cen MT (Headings)"/>
              </a:rPr>
              <a:t>Our system uses modern full-stack architecture focusing on responsive Interface, speed, scalability and security.</a:t>
            </a:r>
            <a:endParaRPr lang="en-US" dirty="0">
              <a:latin typeface="Tw Cen MT (Headings)"/>
            </a:endParaRPr>
          </a:p>
          <a:p>
            <a:pPr lvl="1">
              <a:lnSpc>
                <a:spcPct val="50000"/>
              </a:lnSpc>
            </a:pPr>
            <a:r>
              <a:rPr lang="en-US" dirty="0" smtClean="0">
                <a:latin typeface="Tw Cen MT (Headings)"/>
              </a:rPr>
              <a:t>Frontend is built using </a:t>
            </a:r>
            <a:r>
              <a:rPr lang="en-US" b="1" dirty="0" smtClean="0">
                <a:latin typeface="Tw Cen MT (Headings)"/>
              </a:rPr>
              <a:t>React.js</a:t>
            </a:r>
            <a:r>
              <a:rPr lang="en-US" dirty="0" smtClean="0">
                <a:latin typeface="Tw Cen MT (Headings)"/>
              </a:rPr>
              <a:t> for Interactive UI and smooth rendering, </a:t>
            </a:r>
          </a:p>
          <a:p>
            <a:pPr marL="230188" lvl="1" indent="0">
              <a:lnSpc>
                <a:spcPct val="50000"/>
              </a:lnSpc>
              <a:spcBef>
                <a:spcPts val="1500"/>
              </a:spcBef>
              <a:buNone/>
            </a:pPr>
            <a:r>
              <a:rPr lang="en-US" b="1" dirty="0" err="1" smtClean="0">
                <a:latin typeface="Tw Cen MT (Headings)"/>
              </a:rPr>
              <a:t>Redux</a:t>
            </a:r>
            <a:r>
              <a:rPr lang="en-US" b="1" dirty="0" smtClean="0">
                <a:latin typeface="Tw Cen MT (Headings)"/>
              </a:rPr>
              <a:t> Toolkit </a:t>
            </a:r>
            <a:r>
              <a:rPr lang="en-US" dirty="0" smtClean="0">
                <a:latin typeface="Tw Cen MT (Headings)"/>
              </a:rPr>
              <a:t>for global state library to store state and data consistently,</a:t>
            </a:r>
          </a:p>
          <a:p>
            <a:pPr marL="230188" lvl="1" indent="0">
              <a:lnSpc>
                <a:spcPct val="50000"/>
              </a:lnSpc>
              <a:spcBef>
                <a:spcPts val="1500"/>
              </a:spcBef>
              <a:buNone/>
            </a:pPr>
            <a:r>
              <a:rPr lang="en-US" b="1" dirty="0" err="1" smtClean="0">
                <a:latin typeface="Tw Cen MT (Headings)"/>
              </a:rPr>
              <a:t>TailwindCSS</a:t>
            </a:r>
            <a:r>
              <a:rPr lang="en-US" dirty="0" smtClean="0">
                <a:latin typeface="Tw Cen MT (Headings)"/>
              </a:rPr>
              <a:t> for utility</a:t>
            </a:r>
            <a:r>
              <a:rPr lang="en-US" dirty="0" smtClean="0">
                <a:latin typeface="Tw Cen MT (Headings)"/>
              </a:rPr>
              <a:t> CSS framework.</a:t>
            </a:r>
            <a:endParaRPr lang="en-US" dirty="0">
              <a:latin typeface="Tw Cen MT (Headings)"/>
            </a:endParaRPr>
          </a:p>
          <a:p>
            <a:pPr lvl="1">
              <a:lnSpc>
                <a:spcPct val="50000"/>
              </a:lnSpc>
              <a:spcBef>
                <a:spcPts val="1800"/>
              </a:spcBef>
              <a:spcAft>
                <a:spcPts val="600"/>
              </a:spcAft>
            </a:pPr>
            <a:r>
              <a:rPr lang="en-US" dirty="0" smtClean="0">
                <a:latin typeface="Tw Cen MT (Headings)"/>
              </a:rPr>
              <a:t>Backend uses </a:t>
            </a:r>
            <a:r>
              <a:rPr lang="en-US" b="1" dirty="0" smtClean="0">
                <a:latin typeface="Tw Cen MT (Headings)"/>
              </a:rPr>
              <a:t>Node.js</a:t>
            </a:r>
            <a:r>
              <a:rPr lang="en-US" dirty="0" smtClean="0">
                <a:latin typeface="Tw Cen MT (Headings)"/>
              </a:rPr>
              <a:t> a JavaScript runtime for server and routing operations,</a:t>
            </a:r>
          </a:p>
          <a:p>
            <a:pPr marL="230188" lvl="1" indent="0">
              <a:lnSpc>
                <a:spcPct val="50000"/>
              </a:lnSpc>
              <a:spcBef>
                <a:spcPts val="1500"/>
              </a:spcBef>
              <a:buNone/>
            </a:pPr>
            <a:r>
              <a:rPr lang="en-US" b="1" dirty="0" smtClean="0">
                <a:latin typeface="Tw Cen MT (Headings)"/>
              </a:rPr>
              <a:t>Express.js</a:t>
            </a:r>
            <a:r>
              <a:rPr lang="en-US" dirty="0" smtClean="0">
                <a:latin typeface="Tw Cen MT (Headings)"/>
              </a:rPr>
              <a:t> is used for APIs to route login, OTP, sharing public keys.</a:t>
            </a:r>
            <a:endParaRPr lang="en-US" dirty="0">
              <a:latin typeface="Tw Cen MT (Headings)"/>
            </a:endParaRPr>
          </a:p>
          <a:p>
            <a:pPr lvl="1">
              <a:lnSpc>
                <a:spcPct val="100000"/>
              </a:lnSpc>
            </a:pPr>
            <a:r>
              <a:rPr lang="en-US" b="1" dirty="0" err="1" smtClean="0">
                <a:latin typeface="Tw Cen MT (Headings)"/>
              </a:rPr>
              <a:t>MySql</a:t>
            </a:r>
            <a:r>
              <a:rPr lang="en-US" dirty="0" smtClean="0">
                <a:latin typeface="Tw Cen MT (Headings)"/>
              </a:rPr>
              <a:t> for storing data in the database</a:t>
            </a:r>
            <a:endParaRPr lang="en-US" dirty="0">
              <a:latin typeface="Tw Cen MT (Headings)"/>
            </a:endParaRPr>
          </a:p>
          <a:p>
            <a:pPr lvl="1">
              <a:lnSpc>
                <a:spcPct val="100000"/>
              </a:lnSpc>
            </a:pPr>
            <a:r>
              <a:rPr lang="en-US" b="1" dirty="0" smtClean="0">
                <a:latin typeface="Tw Cen MT (Headings)"/>
              </a:rPr>
              <a:t>Socket.io</a:t>
            </a:r>
            <a:r>
              <a:rPr lang="en-US" dirty="0" smtClean="0">
                <a:latin typeface="Tw Cen MT (Headings)"/>
              </a:rPr>
              <a:t> for real-time connectivity between servers </a:t>
            </a:r>
          </a:p>
          <a:p>
            <a:pPr lvl="1">
              <a:lnSpc>
                <a:spcPct val="100000"/>
              </a:lnSpc>
            </a:pPr>
            <a:r>
              <a:rPr lang="en-US" b="1" dirty="0" smtClean="0">
                <a:latin typeface="Tw Cen MT (Headings)"/>
              </a:rPr>
              <a:t>RSA encryption </a:t>
            </a:r>
            <a:r>
              <a:rPr lang="en-US" dirty="0" smtClean="0">
                <a:latin typeface="Tw Cen MT (Headings)"/>
              </a:rPr>
              <a:t>for encrypted messages using public and private keys.</a:t>
            </a:r>
            <a:endParaRPr lang="en-US" dirty="0">
              <a:latin typeface="Tw Cen MT (Headings)"/>
            </a:endParaRPr>
          </a:p>
        </p:txBody>
      </p:sp>
    </p:spTree>
    <p:extLst>
      <p:ext uri="{BB962C8B-B14F-4D97-AF65-F5344CB8AC3E}">
        <p14:creationId xmlns:p14="http://schemas.microsoft.com/office/powerpoint/2010/main" val="7296091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38200" y="365125"/>
            <a:ext cx="10515600" cy="1325563"/>
          </a:xfrm>
          <a:noFill/>
        </p:spPr>
        <p:txBody>
          <a:bodyPr anchor="ctr">
            <a:noAutofit/>
          </a:bodyPr>
          <a:lstStyle/>
          <a:p>
            <a:r>
              <a:rPr lang="en-US" dirty="0" smtClean="0"/>
              <a:t>Model Diagram </a:t>
            </a:r>
            <a:endParaRPr lang="en-US" dirty="0"/>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838200" y="1825625"/>
            <a:ext cx="2882462" cy="4297678"/>
          </a:xfrm>
          <a:noFill/>
        </p:spPr>
        <p:txBody>
          <a:bodyPr vert="horz" lIns="91440" tIns="45720" rIns="91440" bIns="45720" rtlCol="0" anchor="t">
            <a:normAutofit/>
          </a:bodyPr>
          <a:lstStyle/>
          <a:p>
            <a:r>
              <a:rPr lang="en-US" dirty="0" smtClean="0"/>
              <a:t>Data Flow Diagram level 1</a:t>
            </a:r>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419" y="806468"/>
            <a:ext cx="6650510" cy="5713602"/>
          </a:xfrm>
          <a:prstGeom prst="rect">
            <a:avLst/>
          </a:prstGeom>
        </p:spPr>
      </p:pic>
    </p:spTree>
    <p:extLst>
      <p:ext uri="{BB962C8B-B14F-4D97-AF65-F5344CB8AC3E}">
        <p14:creationId xmlns:p14="http://schemas.microsoft.com/office/powerpoint/2010/main" val="42599771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38200" y="365125"/>
            <a:ext cx="10515600" cy="1325563"/>
          </a:xfrm>
          <a:noFill/>
        </p:spPr>
        <p:txBody>
          <a:bodyPr anchor="ctr">
            <a:noAutofit/>
          </a:bodyPr>
          <a:lstStyle/>
          <a:p>
            <a:r>
              <a:rPr lang="en-US" dirty="0" smtClean="0"/>
              <a:t>Model Diagram </a:t>
            </a:r>
            <a:endParaRPr lang="en-US" dirty="0"/>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838200" y="1825625"/>
            <a:ext cx="2882462" cy="4297678"/>
          </a:xfrm>
          <a:noFill/>
        </p:spPr>
        <p:txBody>
          <a:bodyPr vert="horz" lIns="91440" tIns="45720" rIns="91440" bIns="45720" rtlCol="0" anchor="t">
            <a:normAutofit/>
          </a:bodyPr>
          <a:lstStyle/>
          <a:p>
            <a:r>
              <a:rPr lang="en-US" dirty="0" smtClean="0"/>
              <a:t>ER- diagram</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4419" y="1230985"/>
            <a:ext cx="6650510" cy="4864567"/>
          </a:xfrm>
          <a:prstGeom prst="rect">
            <a:avLst/>
          </a:prstGeom>
        </p:spPr>
      </p:pic>
    </p:spTree>
    <p:extLst>
      <p:ext uri="{BB962C8B-B14F-4D97-AF65-F5344CB8AC3E}">
        <p14:creationId xmlns:p14="http://schemas.microsoft.com/office/powerpoint/2010/main" val="21659819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38200" y="365125"/>
            <a:ext cx="10515600" cy="1325563"/>
          </a:xfrm>
          <a:noFill/>
        </p:spPr>
        <p:txBody>
          <a:bodyPr anchor="ctr">
            <a:noAutofit/>
          </a:bodyPr>
          <a:lstStyle/>
          <a:p>
            <a:r>
              <a:rPr lang="en-US" dirty="0" smtClean="0"/>
              <a:t>Model Diagram </a:t>
            </a:r>
            <a:endParaRPr lang="en-US" dirty="0"/>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838200" y="1825625"/>
            <a:ext cx="2882462" cy="4297678"/>
          </a:xfrm>
          <a:noFill/>
        </p:spPr>
        <p:txBody>
          <a:bodyPr vert="horz" lIns="91440" tIns="45720" rIns="91440" bIns="45720" rtlCol="0" anchor="t">
            <a:normAutofit/>
          </a:bodyPr>
          <a:lstStyle/>
          <a:p>
            <a:r>
              <a:rPr lang="en-US" dirty="0" smtClean="0"/>
              <a:t>Database Schema Design</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3692" y="1690688"/>
            <a:ext cx="7496430" cy="4336401"/>
          </a:xfrm>
          <a:prstGeom prst="rect">
            <a:avLst/>
          </a:prstGeom>
        </p:spPr>
      </p:pic>
    </p:spTree>
    <p:extLst>
      <p:ext uri="{BB962C8B-B14F-4D97-AF65-F5344CB8AC3E}">
        <p14:creationId xmlns:p14="http://schemas.microsoft.com/office/powerpoint/2010/main" val="259078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0" y="198437"/>
            <a:ext cx="5257800" cy="1550850"/>
          </a:xfrm>
          <a:noFill/>
        </p:spPr>
        <p:txBody>
          <a:bodyPr anchor="b"/>
          <a:lstStyle/>
          <a:p>
            <a:r>
              <a:rPr lang="en-US" dirty="0" smtClean="0"/>
              <a:t>Algorithm</a:t>
            </a:r>
            <a:endParaRPr lang="en-US" dirty="0"/>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838200" y="1995777"/>
            <a:ext cx="5904508" cy="4031397"/>
          </a:xfrm>
          <a:noFill/>
        </p:spPr>
        <p:txBody>
          <a:bodyPr vert="horz" lIns="91440" tIns="45720" rIns="91440" bIns="45720" rtlCol="0" anchor="t">
            <a:normAutofit/>
          </a:bodyPr>
          <a:lstStyle/>
          <a:p>
            <a:pPr>
              <a:lnSpc>
                <a:spcPct val="120000"/>
              </a:lnSpc>
            </a:pPr>
            <a:r>
              <a:rPr lang="en-US" sz="2000" dirty="0" smtClean="0">
                <a:latin typeface="Tw Cen MT (Headings)"/>
              </a:rPr>
              <a:t>RSA algorithm </a:t>
            </a:r>
            <a:r>
              <a:rPr lang="en-US" sz="2000" dirty="0">
                <a:latin typeface="Tw Cen MT (Headings)"/>
              </a:rPr>
              <a:t>is a public-key cryptography algorithm that relies on the mathematical properties of prime numbers to generate secure keys. </a:t>
            </a:r>
            <a:endParaRPr lang="en-US" sz="2000" dirty="0">
              <a:latin typeface="Tw Cen MT (Headings)"/>
            </a:endParaRPr>
          </a:p>
          <a:p>
            <a:pPr>
              <a:lnSpc>
                <a:spcPct val="120000"/>
              </a:lnSpc>
            </a:pPr>
            <a:r>
              <a:rPr lang="en-US" sz="2000" dirty="0">
                <a:latin typeface="Tw Cen MT (Headings)"/>
              </a:rPr>
              <a:t>RSA encryption involves two keys: a public key for encryption and a private key for decryption. </a:t>
            </a:r>
            <a:endParaRPr lang="en-US" sz="2000" dirty="0" smtClean="0">
              <a:latin typeface="Tw Cen MT (Headings)"/>
            </a:endParaRPr>
          </a:p>
        </p:txBody>
      </p:sp>
      <p:pic>
        <p:nvPicPr>
          <p:cNvPr id="11" name="Picture Placeholder 13">
            <a:extLst>
              <a:ext uri="{FF2B5EF4-FFF2-40B4-BE49-F238E27FC236}">
                <a16:creationId xmlns:a16="http://schemas.microsoft.com/office/drawing/2014/main" id="{1505EF47-21F0-359C-67AF-1DE6EA73D605}"/>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14780" t="-29220" r="-11674" b="-31600"/>
          <a:stretch/>
        </p:blipFill>
        <p:spPr>
          <a:xfrm>
            <a:off x="6742707" y="1463039"/>
            <a:ext cx="4841384" cy="4142629"/>
          </a:xfrm>
        </p:spPr>
      </p:pic>
    </p:spTree>
    <p:extLst>
      <p:ext uri="{BB962C8B-B14F-4D97-AF65-F5344CB8AC3E}">
        <p14:creationId xmlns:p14="http://schemas.microsoft.com/office/powerpoint/2010/main" val="27372412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151076"/>
            <a:ext cx="4926495" cy="1097280"/>
          </a:xfrm>
          <a:noFill/>
        </p:spPr>
        <p:txBody>
          <a:bodyPr anchor="ctr"/>
          <a:lstStyle/>
          <a:p>
            <a:r>
              <a:rPr lang="en-US" dirty="0" smtClean="0"/>
              <a:t>RSA Key Generation </a:t>
            </a:r>
            <a:endParaRPr lang="en-US" dirty="0"/>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3"/>
          </p:nvPr>
        </p:nvSpPr>
        <p:spPr>
          <a:xfrm>
            <a:off x="838200" y="1248356"/>
            <a:ext cx="4846983" cy="4874949"/>
          </a:xfrm>
          <a:noFill/>
        </p:spPr>
        <p:txBody>
          <a:bodyPr vert="horz" lIns="91440" tIns="45720" rIns="91440" bIns="45720" rtlCol="0" anchor="t">
            <a:normAutofit/>
          </a:bodyPr>
          <a:lstStyle/>
          <a:p>
            <a:pPr marL="111125" lvl="1" indent="-111125">
              <a:lnSpc>
                <a:spcPct val="100000"/>
              </a:lnSpc>
            </a:pPr>
            <a:r>
              <a:rPr lang="en-US" sz="1600" dirty="0" smtClean="0"/>
              <a:t>As shown is the code snippet of RSA key generation in our project.</a:t>
            </a:r>
          </a:p>
          <a:p>
            <a:pPr marL="111125" lvl="1" indent="-111125">
              <a:lnSpc>
                <a:spcPct val="100000"/>
              </a:lnSpc>
            </a:pPr>
            <a:r>
              <a:rPr lang="en-US" sz="1600" dirty="0" smtClean="0"/>
              <a:t>First, It defines a function two take two prime integer min &amp; max number and return RSA keys.</a:t>
            </a:r>
          </a:p>
          <a:p>
            <a:pPr marL="111125" lvl="1" indent="-111125">
              <a:lnSpc>
                <a:spcPct val="100000"/>
              </a:lnSpc>
            </a:pPr>
            <a:r>
              <a:rPr lang="en-US" sz="1600" dirty="0"/>
              <a:t>T</a:t>
            </a:r>
            <a:r>
              <a:rPr lang="en-US" sz="1600" dirty="0" smtClean="0"/>
              <a:t>he</a:t>
            </a:r>
            <a:r>
              <a:rPr lang="en-US" sz="1600" dirty="0" smtClean="0"/>
              <a:t> </a:t>
            </a:r>
            <a:r>
              <a:rPr lang="en-US" sz="1600" i="1" dirty="0" err="1" smtClean="0"/>
              <a:t>const</a:t>
            </a:r>
            <a:r>
              <a:rPr lang="en-US" sz="1600" i="1" dirty="0" smtClean="0"/>
              <a:t> primes, </a:t>
            </a:r>
            <a:r>
              <a:rPr lang="en-US" sz="1600" dirty="0" smtClean="0"/>
              <a:t>calls a function to get array of prime number interval in [</a:t>
            </a:r>
            <a:r>
              <a:rPr lang="en-US" sz="1600" dirty="0" err="1" smtClean="0"/>
              <a:t>min,max</a:t>
            </a:r>
            <a:r>
              <a:rPr lang="en-US" sz="1600" dirty="0" smtClean="0"/>
              <a:t>].</a:t>
            </a:r>
          </a:p>
          <a:p>
            <a:pPr marL="111125" lvl="1" indent="-111125">
              <a:lnSpc>
                <a:spcPct val="100000"/>
              </a:lnSpc>
            </a:pPr>
            <a:r>
              <a:rPr lang="en-US" sz="1600" dirty="0" smtClean="0"/>
              <a:t>Initialize two prime variables and run a loop to pick two random numbers </a:t>
            </a:r>
            <a:r>
              <a:rPr lang="en-US" sz="1600" dirty="0" smtClean="0"/>
              <a:t>from prime array while not being same.</a:t>
            </a:r>
          </a:p>
          <a:p>
            <a:pPr marL="111125" lvl="1" indent="-111125">
              <a:lnSpc>
                <a:spcPct val="100000"/>
              </a:lnSpc>
            </a:pPr>
            <a:r>
              <a:rPr lang="en-US" sz="1600" dirty="0" smtClean="0"/>
              <a:t>Compute modulus n for both public and private keys.</a:t>
            </a:r>
          </a:p>
          <a:p>
            <a:pPr marL="111125" lvl="1" indent="-111125">
              <a:lnSpc>
                <a:spcPct val="100000"/>
              </a:lnSpc>
            </a:pPr>
            <a:r>
              <a:rPr lang="en-US" sz="1600" dirty="0" smtClean="0"/>
              <a:t>Compute Euler totient with x to choose public and private exponent.</a:t>
            </a:r>
          </a:p>
          <a:p>
            <a:pPr marL="111125" lvl="1" indent="-111125">
              <a:lnSpc>
                <a:spcPct val="100000"/>
              </a:lnSpc>
            </a:pPr>
            <a:r>
              <a:rPr lang="en-US" sz="1600" dirty="0" smtClean="0"/>
              <a:t>Return public key and private key.</a:t>
            </a:r>
            <a:endParaRPr lang="en-US" sz="1600" dirty="0"/>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5764695" y="739472"/>
            <a:ext cx="5915771" cy="4731026"/>
          </a:xfrm>
          <a:prstGeom prst="rect">
            <a:avLst/>
          </a:prstGeom>
        </p:spPr>
      </p:pic>
    </p:spTree>
    <p:extLst>
      <p:ext uri="{BB962C8B-B14F-4D97-AF65-F5344CB8AC3E}">
        <p14:creationId xmlns:p14="http://schemas.microsoft.com/office/powerpoint/2010/main" val="4146137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151076"/>
            <a:ext cx="4926495" cy="1097280"/>
          </a:xfrm>
          <a:noFill/>
        </p:spPr>
        <p:txBody>
          <a:bodyPr anchor="ctr"/>
          <a:lstStyle/>
          <a:p>
            <a:r>
              <a:rPr lang="en-US" dirty="0" smtClean="0"/>
              <a:t>RSA Tracing</a:t>
            </a:r>
            <a:endParaRPr lang="en-US" dirty="0"/>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3"/>
          </p:nvPr>
        </p:nvSpPr>
        <p:spPr>
          <a:xfrm>
            <a:off x="838200" y="1248356"/>
            <a:ext cx="4846983" cy="4874949"/>
          </a:xfrm>
          <a:noFill/>
        </p:spPr>
        <p:txBody>
          <a:bodyPr vert="horz" lIns="91440" tIns="45720" rIns="91440" bIns="45720" rtlCol="0" anchor="t">
            <a:normAutofit/>
          </a:bodyPr>
          <a:lstStyle/>
          <a:p>
            <a:pPr marL="111125" lvl="1" indent="-111125">
              <a:lnSpc>
                <a:spcPct val="100000"/>
              </a:lnSpc>
            </a:pPr>
            <a:r>
              <a:rPr lang="en-US" sz="1600" dirty="0" smtClean="0"/>
              <a:t>As shown is the code snippet of RSA Tracing in our project.</a:t>
            </a:r>
          </a:p>
          <a:p>
            <a:pPr marL="111125" lvl="1" indent="-111125">
              <a:lnSpc>
                <a:spcPct val="100000"/>
              </a:lnSpc>
            </a:pPr>
            <a:r>
              <a:rPr lang="en-US" sz="1600" dirty="0" smtClean="0"/>
              <a:t>First, It defines a constant in which a string and public key parameter are taken.</a:t>
            </a:r>
          </a:p>
          <a:p>
            <a:pPr marL="111125" lvl="1" indent="-111125">
              <a:lnSpc>
                <a:spcPct val="100000"/>
              </a:lnSpc>
            </a:pPr>
            <a:r>
              <a:rPr lang="en-US" sz="1600" dirty="0"/>
              <a:t>T</a:t>
            </a:r>
            <a:r>
              <a:rPr lang="en-US" sz="1600" dirty="0" smtClean="0"/>
              <a:t>he</a:t>
            </a:r>
            <a:r>
              <a:rPr lang="en-US" sz="1600" dirty="0" smtClean="0"/>
              <a:t> </a:t>
            </a:r>
            <a:r>
              <a:rPr lang="en-US" sz="1600" dirty="0" smtClean="0"/>
              <a:t>string is trimmed and a array is created to collect encrypted character.</a:t>
            </a:r>
            <a:endParaRPr lang="en-US" sz="1600" dirty="0" smtClean="0"/>
          </a:p>
          <a:p>
            <a:pPr marL="111125" lvl="1" indent="-111125">
              <a:lnSpc>
                <a:spcPct val="100000"/>
              </a:lnSpc>
            </a:pPr>
            <a:r>
              <a:rPr lang="en-US" sz="1600" dirty="0" smtClean="0"/>
              <a:t>Extract public key values and iterate through encryption loop.</a:t>
            </a:r>
            <a:endParaRPr lang="en-US" sz="1600" dirty="0" smtClean="0"/>
          </a:p>
          <a:p>
            <a:pPr marL="111125" lvl="1" indent="-111125">
              <a:lnSpc>
                <a:spcPct val="100000"/>
              </a:lnSpc>
            </a:pPr>
            <a:r>
              <a:rPr lang="en-US" sz="1600" i="1" dirty="0" err="1" smtClean="0"/>
              <a:t>Message.charCode</a:t>
            </a:r>
            <a:r>
              <a:rPr lang="en-US" sz="1600" i="1" dirty="0" err="1" smtClean="0"/>
              <a:t>At</a:t>
            </a:r>
            <a:r>
              <a:rPr lang="en-US" sz="1600" i="1" dirty="0" smtClean="0"/>
              <a:t>(index) </a:t>
            </a:r>
            <a:r>
              <a:rPr lang="en-US" sz="1600" dirty="0" smtClean="0"/>
              <a:t>return integer for ASCII values.</a:t>
            </a:r>
            <a:endParaRPr lang="en-US" sz="1600" dirty="0" smtClean="0"/>
          </a:p>
          <a:p>
            <a:pPr marL="111125" lvl="1" indent="-111125">
              <a:lnSpc>
                <a:spcPct val="100000"/>
              </a:lnSpc>
            </a:pPr>
            <a:r>
              <a:rPr lang="en-US" sz="1600" i="1" dirty="0" err="1" smtClean="0"/>
              <a:t>modExp</a:t>
            </a:r>
            <a:r>
              <a:rPr lang="en-US" sz="1600" i="1" dirty="0" smtClean="0"/>
              <a:t>(</a:t>
            </a:r>
            <a:r>
              <a:rPr lang="en-US" sz="1600" i="1" dirty="0" err="1" smtClean="0"/>
              <a:t>charCode,e,n</a:t>
            </a:r>
            <a:r>
              <a:rPr lang="en-US" sz="1600" i="1" dirty="0" smtClean="0"/>
              <a:t>) </a:t>
            </a:r>
            <a:r>
              <a:rPr lang="en-US" sz="1600" dirty="0" smtClean="0"/>
              <a:t>computes RSA formula to compute exponent and generate larger numeric values.</a:t>
            </a:r>
          </a:p>
          <a:p>
            <a:pPr marL="111125" lvl="1" indent="-111125">
              <a:lnSpc>
                <a:spcPct val="100000"/>
              </a:lnSpc>
            </a:pPr>
            <a:r>
              <a:rPr lang="en-US" sz="1600" dirty="0" smtClean="0"/>
              <a:t>Those all values are joined and returned.</a:t>
            </a:r>
            <a:endParaRPr lang="en-US" sz="1600" dirty="0"/>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5764695" y="866692"/>
            <a:ext cx="5915772" cy="4603806"/>
          </a:xfrm>
          <a:prstGeom prst="rect">
            <a:avLst/>
          </a:prstGeom>
        </p:spPr>
      </p:pic>
    </p:spTree>
    <p:extLst>
      <p:ext uri="{BB962C8B-B14F-4D97-AF65-F5344CB8AC3E}">
        <p14:creationId xmlns:p14="http://schemas.microsoft.com/office/powerpoint/2010/main" val="27564161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151076"/>
            <a:ext cx="4926495" cy="1097280"/>
          </a:xfrm>
          <a:noFill/>
        </p:spPr>
        <p:txBody>
          <a:bodyPr anchor="ctr"/>
          <a:lstStyle/>
          <a:p>
            <a:r>
              <a:rPr lang="en-US" dirty="0" smtClean="0"/>
              <a:t>RSA Decryption</a:t>
            </a:r>
            <a:endParaRPr lang="en-US" dirty="0"/>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3"/>
          </p:nvPr>
        </p:nvSpPr>
        <p:spPr>
          <a:xfrm>
            <a:off x="838200" y="1248356"/>
            <a:ext cx="4846983" cy="4874949"/>
          </a:xfrm>
          <a:noFill/>
        </p:spPr>
        <p:txBody>
          <a:bodyPr vert="horz" lIns="91440" tIns="45720" rIns="91440" bIns="45720" rtlCol="0" anchor="t">
            <a:normAutofit fontScale="92500" lnSpcReduction="10000"/>
          </a:bodyPr>
          <a:lstStyle/>
          <a:p>
            <a:pPr marL="111125" lvl="1" indent="-111125">
              <a:lnSpc>
                <a:spcPct val="100000"/>
              </a:lnSpc>
            </a:pPr>
            <a:r>
              <a:rPr lang="en-US" sz="1600" dirty="0" smtClean="0"/>
              <a:t>As shown is the code snippet of RSA decryption </a:t>
            </a:r>
            <a:r>
              <a:rPr lang="en-US" sz="1600" dirty="0" err="1" smtClean="0"/>
              <a:t>precess</a:t>
            </a:r>
            <a:r>
              <a:rPr lang="en-US" sz="1600" dirty="0" smtClean="0"/>
              <a:t> in our project.</a:t>
            </a:r>
          </a:p>
          <a:p>
            <a:pPr marL="111125" lvl="1" indent="-111125">
              <a:lnSpc>
                <a:spcPct val="100000"/>
              </a:lnSpc>
            </a:pPr>
            <a:r>
              <a:rPr lang="en-US" sz="1600" dirty="0" smtClean="0"/>
              <a:t>First, Create a constant and add string for encrypted message and </a:t>
            </a:r>
            <a:r>
              <a:rPr lang="en-US" sz="1600" dirty="0" err="1" smtClean="0"/>
              <a:t>privatekey</a:t>
            </a:r>
            <a:r>
              <a:rPr lang="en-US" sz="1600" dirty="0" smtClean="0"/>
              <a:t> parameter.</a:t>
            </a:r>
          </a:p>
          <a:p>
            <a:pPr marL="111125" lvl="1" indent="-111125">
              <a:lnSpc>
                <a:spcPct val="100000"/>
              </a:lnSpc>
            </a:pPr>
            <a:r>
              <a:rPr lang="en-US" sz="1600" dirty="0" smtClean="0"/>
              <a:t>The constant plaintext is created to hold individual decrypted character at end.</a:t>
            </a:r>
          </a:p>
          <a:p>
            <a:pPr marL="111125" lvl="1" indent="-111125">
              <a:lnSpc>
                <a:spcPct val="100000"/>
              </a:lnSpc>
            </a:pPr>
            <a:r>
              <a:rPr lang="en-US" sz="1600" dirty="0" err="1" smtClean="0"/>
              <a:t>CipherText</a:t>
            </a:r>
            <a:r>
              <a:rPr lang="en-US" sz="1600" dirty="0" smtClean="0"/>
              <a:t> is split into separate numbers and extract private key parameters.</a:t>
            </a:r>
          </a:p>
          <a:p>
            <a:pPr marL="111125" lvl="1" indent="-111125">
              <a:lnSpc>
                <a:spcPct val="100000"/>
              </a:lnSpc>
            </a:pPr>
            <a:r>
              <a:rPr lang="en-US" sz="1600" dirty="0" smtClean="0"/>
              <a:t>Private key uses exponent </a:t>
            </a:r>
            <a:r>
              <a:rPr lang="en-US" sz="1600" i="1" dirty="0" smtClean="0"/>
              <a:t>d</a:t>
            </a:r>
            <a:r>
              <a:rPr lang="en-US" sz="1600" dirty="0" smtClean="0"/>
              <a:t> and </a:t>
            </a:r>
            <a:r>
              <a:rPr lang="en-US" sz="1600" i="1" dirty="0" smtClean="0"/>
              <a:t>n</a:t>
            </a:r>
            <a:r>
              <a:rPr lang="en-US" sz="1600" dirty="0" smtClean="0"/>
              <a:t> in decryption formula.</a:t>
            </a:r>
          </a:p>
          <a:p>
            <a:pPr marL="111125" lvl="1" indent="-111125">
              <a:lnSpc>
                <a:spcPct val="100000"/>
              </a:lnSpc>
            </a:pPr>
            <a:r>
              <a:rPr lang="en-US" sz="1600" dirty="0" smtClean="0"/>
              <a:t>Iterate the </a:t>
            </a:r>
            <a:r>
              <a:rPr lang="en-US" sz="1600" dirty="0" err="1" smtClean="0"/>
              <a:t>ciphertext</a:t>
            </a:r>
            <a:r>
              <a:rPr lang="en-US" sz="1600" dirty="0" smtClean="0"/>
              <a:t> in decryption loop where string is turned into </a:t>
            </a:r>
            <a:r>
              <a:rPr lang="en-US" sz="1600" dirty="0" err="1" smtClean="0"/>
              <a:t>BigInt</a:t>
            </a:r>
            <a:r>
              <a:rPr lang="en-US" sz="1600" dirty="0" smtClean="0"/>
              <a:t> and can be used for exponent.</a:t>
            </a:r>
          </a:p>
          <a:p>
            <a:pPr marL="111125" lvl="1" indent="-111125">
              <a:lnSpc>
                <a:spcPct val="100000"/>
              </a:lnSpc>
            </a:pPr>
            <a:r>
              <a:rPr lang="en-US" sz="1600" i="1" dirty="0" err="1" smtClean="0"/>
              <a:t>modExp</a:t>
            </a:r>
            <a:r>
              <a:rPr lang="en-US" sz="1600" i="1" dirty="0" smtClean="0"/>
              <a:t>(</a:t>
            </a:r>
            <a:r>
              <a:rPr lang="en-US" sz="1600" i="1" dirty="0" err="1" smtClean="0"/>
              <a:t>cipherNumber</a:t>
            </a:r>
            <a:r>
              <a:rPr lang="en-US" sz="1600" i="1" dirty="0"/>
              <a:t>, d, n</a:t>
            </a:r>
            <a:r>
              <a:rPr lang="en-US" sz="1600" i="1" dirty="0" smtClean="0"/>
              <a:t>) </a:t>
            </a:r>
            <a:r>
              <a:rPr lang="en-US" sz="1600" dirty="0" smtClean="0"/>
              <a:t>modular inverse of encryption with keys and decrypted character are turned </a:t>
            </a:r>
            <a:r>
              <a:rPr lang="en-US" sz="1600" dirty="0"/>
              <a:t>into character with </a:t>
            </a:r>
            <a:r>
              <a:rPr lang="en-US" sz="1600" i="1" dirty="0" err="1"/>
              <a:t>String.fromCharCode</a:t>
            </a:r>
            <a:r>
              <a:rPr lang="en-US" sz="1600" i="1" dirty="0"/>
              <a:t>(Number(</a:t>
            </a:r>
            <a:r>
              <a:rPr lang="en-US" sz="1600" i="1" dirty="0" err="1"/>
              <a:t>plainChar</a:t>
            </a:r>
            <a:r>
              <a:rPr lang="en-US" sz="1600" i="1" dirty="0"/>
              <a:t>))</a:t>
            </a:r>
            <a:endParaRPr lang="en-US" sz="1600" i="1" dirty="0" smtClean="0"/>
          </a:p>
          <a:p>
            <a:pPr marL="111125" lvl="1" indent="-111125">
              <a:lnSpc>
                <a:spcPct val="100000"/>
              </a:lnSpc>
            </a:pPr>
            <a:r>
              <a:rPr lang="en-US" sz="1600" dirty="0" smtClean="0"/>
              <a:t>Return the reassembled message.</a:t>
            </a:r>
            <a:endParaRPr lang="en-US" sz="1600"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764695" y="747423"/>
            <a:ext cx="5915770" cy="4723075"/>
          </a:xfrm>
          <a:prstGeom prst="rect">
            <a:avLst/>
          </a:prstGeom>
        </p:spPr>
      </p:pic>
    </p:spTree>
    <p:extLst>
      <p:ext uri="{BB962C8B-B14F-4D97-AF65-F5344CB8AC3E}">
        <p14:creationId xmlns:p14="http://schemas.microsoft.com/office/powerpoint/2010/main" val="10610225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Conclusion</a:t>
            </a:r>
            <a:endParaRPr lang="en-US" dirty="0"/>
          </a:p>
        </p:txBody>
      </p:sp>
      <p:sp>
        <p:nvSpPr>
          <p:cNvPr id="5" name="Content Placeholder 4"/>
          <p:cNvSpPr>
            <a:spLocks noGrp="1"/>
          </p:cNvSpPr>
          <p:nvPr>
            <p:ph idx="1"/>
          </p:nvPr>
        </p:nvSpPr>
        <p:spPr>
          <a:xfrm>
            <a:off x="5801707" y="1119031"/>
            <a:ext cx="5942370" cy="4749032"/>
          </a:xfrm>
        </p:spPr>
        <p:txBody>
          <a:bodyPr/>
          <a:lstStyle/>
          <a:p>
            <a:r>
              <a:rPr lang="en-US" dirty="0" err="1" smtClean="0">
                <a:latin typeface="Tw Cen MT (Headings)"/>
              </a:rPr>
              <a:t>Chatline</a:t>
            </a:r>
            <a:r>
              <a:rPr lang="en-US" dirty="0" smtClean="0">
                <a:latin typeface="Tw Cen MT (Headings)"/>
              </a:rPr>
              <a:t> is built to provide secure communication and real-time messaging while providing low latency and modern and interactive UI.</a:t>
            </a:r>
          </a:p>
          <a:p>
            <a:r>
              <a:rPr lang="en-US" dirty="0" smtClean="0">
                <a:latin typeface="Tw Cen MT (Headings)"/>
              </a:rPr>
              <a:t>Future Update might include:</a:t>
            </a:r>
          </a:p>
          <a:p>
            <a:r>
              <a:rPr lang="en-US" dirty="0" smtClean="0">
                <a:latin typeface="Tw Cen MT (Headings)"/>
              </a:rPr>
              <a:t>- Sharing various media types</a:t>
            </a:r>
          </a:p>
          <a:p>
            <a:r>
              <a:rPr lang="en-US" dirty="0" smtClean="0">
                <a:latin typeface="Tw Cen MT (Headings)"/>
              </a:rPr>
              <a:t>- Admin management</a:t>
            </a:r>
          </a:p>
          <a:p>
            <a:r>
              <a:rPr lang="en-US" dirty="0" smtClean="0">
                <a:latin typeface="Tw Cen MT (Headings)"/>
              </a:rPr>
              <a:t>- Multi-line messages </a:t>
            </a:r>
          </a:p>
          <a:p>
            <a:r>
              <a:rPr lang="en-US" dirty="0" smtClean="0">
                <a:latin typeface="Tw Cen MT (Headings)"/>
              </a:rPr>
              <a:t>- Phone Verification</a:t>
            </a:r>
            <a:endParaRPr lang="en-US" dirty="0">
              <a:latin typeface="Tw Cen MT (Headings)"/>
            </a:endParaRPr>
          </a:p>
        </p:txBody>
      </p:sp>
    </p:spTree>
    <p:extLst>
      <p:ext uri="{BB962C8B-B14F-4D97-AF65-F5344CB8AC3E}">
        <p14:creationId xmlns:p14="http://schemas.microsoft.com/office/powerpoint/2010/main" val="1832756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83876" y="764502"/>
            <a:ext cx="5315035" cy="5328996"/>
          </a:xfrm>
          <a:noFill/>
        </p:spPr>
        <p:txBody>
          <a:bodyPr/>
          <a:lstStyle/>
          <a:p>
            <a:r>
              <a:rPr lang="en-US" dirty="0"/>
              <a:t>Thank you</a:t>
            </a:r>
          </a:p>
        </p:txBody>
      </p:sp>
    </p:spTree>
    <p:extLst>
      <p:ext uri="{BB962C8B-B14F-4D97-AF65-F5344CB8AC3E}">
        <p14:creationId xmlns:p14="http://schemas.microsoft.com/office/powerpoint/2010/main" val="1562484837"/>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FFD73E-D96B-4428-99CD-717A4897D3B4}">
  <ds:schemaRefs>
    <ds:schemaRef ds:uri="http://schemas.microsoft.com/sharepoint/v3/contenttype/forms"/>
  </ds:schemaRefs>
</ds:datastoreItem>
</file>

<file path=customXml/itemProps2.xml><?xml version="1.0" encoding="utf-8"?>
<ds:datastoreItem xmlns:ds="http://schemas.openxmlformats.org/officeDocument/2006/customXml" ds:itemID="{A3165DE6-2DCE-44FC-94B7-A499559DBF88}">
  <ds:schemaRefs>
    <ds:schemaRef ds:uri="71af3243-3dd4-4a8d-8c0d-dd76da1f02a5"/>
    <ds:schemaRef ds:uri="http://purl.org/dc/elements/1.1/"/>
    <ds:schemaRef ds:uri="http://schemas.microsoft.com/office/2006/metadata/properties"/>
    <ds:schemaRef ds:uri="230e9df3-be65-4c73-a93b-d1236ebd677e"/>
    <ds:schemaRef ds:uri="http://schemas.microsoft.com/office/2006/documentManagement/types"/>
    <ds:schemaRef ds:uri="http://schemas.microsoft.com/sharepoint/v3"/>
    <ds:schemaRef ds:uri="16c05727-aa75-4e4a-9b5f-8a80a1165891"/>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285E733-8340-4FDD-A6FC-B22F1B75E4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183</TotalTime>
  <Words>756</Words>
  <Application>Microsoft Office PowerPoint</Application>
  <PresentationFormat>Widescreen</PresentationFormat>
  <Paragraphs>98</Paragraphs>
  <Slides>15</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Avenir Next LT Pro</vt:lpstr>
      <vt:lpstr>Avenir Next LT Pro Light</vt:lpstr>
      <vt:lpstr>Calibri</vt:lpstr>
      <vt:lpstr>Tw Cen MT</vt:lpstr>
      <vt:lpstr>Tw Cen MT (Headings)</vt:lpstr>
      <vt:lpstr>Custom</vt:lpstr>
      <vt:lpstr>Chatline  A Real Time Chat Application</vt:lpstr>
      <vt:lpstr>Contents </vt:lpstr>
      <vt:lpstr>Chatline, the project created to provide encrypted end to end messaging while using real-time communication to safeguard your sensitive information.</vt:lpstr>
      <vt:lpstr>Objectives</vt:lpstr>
      <vt:lpstr>Scope &amp; Limitation</vt:lpstr>
      <vt:lpstr>System Architecture Overview</vt:lpstr>
      <vt:lpstr>Model Diagram </vt:lpstr>
      <vt:lpstr>Model Diagram </vt:lpstr>
      <vt:lpstr>Model Diagram </vt:lpstr>
      <vt:lpstr>Algorithm</vt:lpstr>
      <vt:lpstr>RSA Key Generation </vt:lpstr>
      <vt:lpstr>RSA Tracing</vt:lpstr>
      <vt:lpstr>RSA Decryption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Chatline  A Real Time Chat Application</dc:title>
  <dc:creator>Dell</dc:creator>
  <cp:lastModifiedBy>Sujal Munikar</cp:lastModifiedBy>
  <cp:revision>26</cp:revision>
  <dcterms:created xsi:type="dcterms:W3CDTF">2025-11-24T14:52:02Z</dcterms:created>
  <dcterms:modified xsi:type="dcterms:W3CDTF">2025-11-24T18:57:43Z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